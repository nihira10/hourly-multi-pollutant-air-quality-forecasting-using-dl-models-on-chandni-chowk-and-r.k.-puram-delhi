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83" autoAdjust="0"/>
  </p:normalViewPr>
  <p:slideViewPr>
    <p:cSldViewPr snapToGrid="0">
      <p:cViewPr varScale="1">
        <p:scale>
          <a:sx n="77" d="100"/>
          <a:sy n="77" d="100"/>
        </p:scale>
        <p:origin x="8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7"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8"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2"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5"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9"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7"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8"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noAutofit/>
          </a:bodyPr>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noAutofit/>
          </a:bodyPr>
          <a:lstStyle/>
          <a:p>
            <a:pPr>
              <a:lnSpc>
                <a:spcPct val="100000"/>
              </a:lnSpc>
            </a:pPr>
            <a:fld id="{5EF11662-36AF-4582-94AB-B000F6DE1AFC}" type="datetime1">
              <a:rPr lang="en-US" sz="1200" b="0" strike="noStrike" spc="-1">
                <a:solidFill>
                  <a:srgbClr val="8B8B8B"/>
                </a:solidFill>
                <a:latin typeface="Calibri"/>
              </a:rPr>
              <a:t>4/15/2026</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lstStyle/>
          <a:p>
            <a:pPr algn="ctr">
              <a:lnSpc>
                <a:spcPct val="100000"/>
              </a:lnSpc>
            </a:pPr>
            <a:r>
              <a:rPr lang="en-US" sz="1200" b="0" strike="noStrike" spc="-1">
                <a:solidFill>
                  <a:srgbClr val="000000"/>
                </a:solidFill>
                <a:latin typeface="Calibri"/>
              </a:rPr>
              <a:t>NATIONAL CONFERENCE ON INDIA 2030: INNOVATIONS AND ENTREPRENEURIAL ZEAL FOR SUSTAINABLE GROWTH         </a:t>
            </a:r>
            <a:endParaRPr lang="en-US" sz="1200" b="0" strike="noStrike" spc="-1">
              <a:latin typeface="Times New Roman"/>
            </a:endParaRPr>
          </a:p>
          <a:p>
            <a:pPr algn="ctr">
              <a:lnSpc>
                <a:spcPct val="100000"/>
              </a:lnSpc>
            </a:pPr>
            <a:r>
              <a:rPr lang="en-US" sz="1200" b="0" strike="noStrike" spc="-1">
                <a:solidFill>
                  <a:srgbClr val="000000"/>
                </a:solidFill>
                <a:latin typeface="Calibri"/>
              </a:rPr>
              <a:t>(28 FEB - 1 March 2025</a:t>
            </a:r>
            <a:endParaRPr lang="en-US" sz="12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B1E3F307-0A5A-4BDD-834D-F841CC824A94}"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p:nvPr>
        </p:nvSpPr>
        <p:spPr>
          <a:xfrm>
            <a:off x="838080" y="6356520"/>
            <a:ext cx="2742840" cy="364680"/>
          </a:xfrm>
          <a:prstGeom prst="rect">
            <a:avLst/>
          </a:prstGeom>
        </p:spPr>
        <p:txBody>
          <a:bodyPr anchor="ctr">
            <a:noAutofit/>
          </a:bodyPr>
          <a:lstStyle/>
          <a:p>
            <a:pPr>
              <a:lnSpc>
                <a:spcPct val="100000"/>
              </a:lnSpc>
            </a:pPr>
            <a:fld id="{255F77F9-0356-4800-B651-1F1E5613B364}" type="datetime1">
              <a:rPr lang="en-US" sz="1200" b="0" strike="noStrike" spc="-1">
                <a:solidFill>
                  <a:srgbClr val="8B8B8B"/>
                </a:solidFill>
                <a:latin typeface="Calibri"/>
              </a:rPr>
              <a:t>4/15/2026</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noAutofit/>
          </a:bodyPr>
          <a:lstStyle/>
          <a:p>
            <a:pPr algn="ctr">
              <a:lnSpc>
                <a:spcPct val="100000"/>
              </a:lnSpc>
            </a:pPr>
            <a:r>
              <a:rPr lang="en-US" sz="1200" b="0" strike="noStrike" spc="-1">
                <a:solidFill>
                  <a:srgbClr val="000000"/>
                </a:solidFill>
                <a:latin typeface="Calibri"/>
              </a:rPr>
              <a:t>NATIONAL CONFERENCE ON INDIA 2030: INNOVATIONS AND ENTREPRENEURIAL ZEAL FOR SUSTAINABLE GROWTH         </a:t>
            </a:r>
            <a:endParaRPr lang="en-US" sz="1200" b="0" strike="noStrike" spc="-1">
              <a:latin typeface="Times New Roman"/>
            </a:endParaRPr>
          </a:p>
          <a:p>
            <a:pPr algn="ctr">
              <a:lnSpc>
                <a:spcPct val="100000"/>
              </a:lnSpc>
            </a:pPr>
            <a:r>
              <a:rPr lang="en-US" sz="1200" b="0" strike="noStrike" spc="-1">
                <a:solidFill>
                  <a:srgbClr val="000000"/>
                </a:solidFill>
                <a:latin typeface="Calibri"/>
              </a:rPr>
              <a:t>(28 FEB - 1 March 2025)</a:t>
            </a:r>
            <a:endParaRPr lang="en-US" sz="12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9C0D4193-962F-4AA0-8014-FE130FD1C497}"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1385280" y="833120"/>
            <a:ext cx="9143640" cy="2621280"/>
          </a:xfrm>
          <a:prstGeom prst="rect">
            <a:avLst/>
          </a:prstGeom>
          <a:noFill/>
          <a:ln>
            <a:noFill/>
          </a:ln>
        </p:spPr>
        <p:txBody>
          <a:bodyPr anchor="b">
            <a:noAutofit/>
          </a:bodyPr>
          <a:lstStyle/>
          <a:p>
            <a:pPr algn="ctr">
              <a:lnSpc>
                <a:spcPct val="107000"/>
              </a:lnSpc>
              <a:spcAft>
                <a:spcPts val="799"/>
              </a:spcAft>
            </a:pPr>
            <a:r>
              <a:rPr lang="en-US" sz="1800" b="1" strike="noStrike" spc="-1" dirty="0">
                <a:solidFill>
                  <a:srgbClr val="222222"/>
                </a:solidFill>
                <a:latin typeface="Times New Roman"/>
                <a:ea typeface="Calibri"/>
              </a:rPr>
              <a:t>NATIONAL CONFERENCE ON</a:t>
            </a:r>
            <a:br>
              <a:rPr dirty="0"/>
            </a:br>
            <a:r>
              <a:rPr lang="en-US" b="1" spc="-1" dirty="0">
                <a:solidFill>
                  <a:srgbClr val="222222"/>
                </a:solidFill>
                <a:latin typeface="Times New Roman"/>
                <a:ea typeface="Calibri"/>
              </a:rPr>
              <a:t>Machine Learning, Artificial Intelligence, Recent Advancement &amp; Security: Opportunities &amp; Challenges</a:t>
            </a:r>
          </a:p>
          <a:p>
            <a:pPr algn="ctr">
              <a:lnSpc>
                <a:spcPct val="107000"/>
              </a:lnSpc>
              <a:spcAft>
                <a:spcPts val="799"/>
              </a:spcAft>
            </a:pPr>
            <a:r>
              <a:rPr lang="en-US" b="1" spc="-1" dirty="0">
                <a:solidFill>
                  <a:srgbClr val="222222"/>
                </a:solidFill>
                <a:latin typeface="Times New Roman"/>
                <a:ea typeface="Calibri"/>
              </a:rPr>
              <a:t>(17</a:t>
            </a:r>
            <a:r>
              <a:rPr lang="en-US" b="1" spc="-1" baseline="30000" dirty="0">
                <a:solidFill>
                  <a:srgbClr val="222222"/>
                </a:solidFill>
                <a:latin typeface="Times New Roman"/>
                <a:ea typeface="Calibri"/>
              </a:rPr>
              <a:t>th</a:t>
            </a:r>
            <a:r>
              <a:rPr lang="en-US" b="1" spc="-1" dirty="0">
                <a:solidFill>
                  <a:srgbClr val="222222"/>
                </a:solidFill>
                <a:latin typeface="Times New Roman"/>
                <a:ea typeface="Calibri"/>
              </a:rPr>
              <a:t> – 18</a:t>
            </a:r>
            <a:r>
              <a:rPr lang="en-US" b="1" spc="-1" baseline="30000" dirty="0">
                <a:solidFill>
                  <a:srgbClr val="222222"/>
                </a:solidFill>
                <a:latin typeface="Times New Roman"/>
                <a:ea typeface="Calibri"/>
              </a:rPr>
              <a:t>th</a:t>
            </a:r>
            <a:r>
              <a:rPr lang="en-US" b="1" spc="-1" dirty="0">
                <a:solidFill>
                  <a:srgbClr val="222222"/>
                </a:solidFill>
                <a:latin typeface="Times New Roman"/>
                <a:ea typeface="Calibri"/>
              </a:rPr>
              <a:t> April, 2026)</a:t>
            </a:r>
            <a:br>
              <a:rPr dirty="0"/>
            </a:br>
            <a:r>
              <a:rPr lang="en-US" sz="1800" b="1" strike="noStrike" spc="-1" dirty="0">
                <a:solidFill>
                  <a:srgbClr val="222222"/>
                </a:solidFill>
                <a:latin typeface="Times New Roman"/>
                <a:ea typeface="Calibri"/>
              </a:rPr>
              <a:t>organized by</a:t>
            </a:r>
            <a:br>
              <a:rPr dirty="0"/>
            </a:br>
            <a:r>
              <a:rPr lang="en-US" sz="1800" b="1" strike="noStrike" spc="-1" dirty="0">
                <a:solidFill>
                  <a:srgbClr val="222222"/>
                </a:solidFill>
                <a:latin typeface="Times New Roman"/>
                <a:ea typeface="Calibri"/>
              </a:rPr>
              <a:t>KCC INSTITUTE OF LEGAL &amp; HIGHER EDUCATION, GREATER NOIDA</a:t>
            </a:r>
            <a:br>
              <a:rPr dirty="0"/>
            </a:br>
            <a:r>
              <a:rPr lang="en-US" sz="1800" b="1" strike="noStrike" spc="-1" dirty="0">
                <a:solidFill>
                  <a:srgbClr val="222222"/>
                </a:solidFill>
                <a:latin typeface="Times New Roman"/>
                <a:ea typeface="Calibri"/>
              </a:rPr>
              <a:t>Affiliated to GGSIPU (Guru Gobind Singh Indraprastha University), Dwarka, New Delhi</a:t>
            </a:r>
            <a:r>
              <a:rPr lang="en-US" sz="1800" b="0" strike="noStrike" spc="-1" dirty="0">
                <a:solidFill>
                  <a:srgbClr val="000000"/>
                </a:solidFill>
                <a:latin typeface="Calibri"/>
                <a:ea typeface="Calibri"/>
              </a:rPr>
              <a:t> </a:t>
            </a:r>
            <a:br>
              <a:rPr dirty="0"/>
            </a:br>
            <a:endParaRPr lang="en-US" sz="1800" b="0" strike="noStrike" spc="-1" dirty="0">
              <a:solidFill>
                <a:srgbClr val="000000"/>
              </a:solidFill>
              <a:latin typeface="Calibri"/>
            </a:endParaRPr>
          </a:p>
        </p:txBody>
      </p:sp>
      <p:sp>
        <p:nvSpPr>
          <p:cNvPr id="83" name="TextShape 2"/>
          <p:cNvSpPr txBox="1"/>
          <p:nvPr/>
        </p:nvSpPr>
        <p:spPr>
          <a:xfrm>
            <a:off x="572520" y="3921292"/>
            <a:ext cx="11046960" cy="2242440"/>
          </a:xfrm>
          <a:prstGeom prst="rect">
            <a:avLst/>
          </a:prstGeom>
          <a:noFill/>
          <a:ln>
            <a:noFill/>
          </a:ln>
        </p:spPr>
        <p:txBody>
          <a:bodyPr>
            <a:normAutofit fontScale="70000" lnSpcReduction="20000"/>
          </a:bodyPr>
          <a:lstStyle/>
          <a:p>
            <a:pPr algn="ctr">
              <a:lnSpc>
                <a:spcPct val="90000"/>
              </a:lnSpc>
              <a:spcBef>
                <a:spcPts val="1001"/>
              </a:spcBef>
            </a:pPr>
            <a:r>
              <a:rPr lang="en-IN" sz="3600" dirty="0">
                <a:solidFill>
                  <a:schemeClr val="accent2">
                    <a:lumMod val="75000"/>
                  </a:schemeClr>
                </a:solidFill>
              </a:rPr>
              <a:t>Hourly Multi-Pollutant Air Quality Forecasting using </a:t>
            </a:r>
            <a:r>
              <a:rPr lang="en-IN" sz="3600" dirty="0" err="1">
                <a:solidFill>
                  <a:schemeClr val="accent2">
                    <a:lumMod val="75000"/>
                  </a:schemeClr>
                </a:solidFill>
              </a:rPr>
              <a:t>BiLSTM</a:t>
            </a:r>
            <a:r>
              <a:rPr lang="en-IN" sz="3600" dirty="0">
                <a:solidFill>
                  <a:schemeClr val="accent2">
                    <a:lumMod val="75000"/>
                  </a:schemeClr>
                </a:solidFill>
              </a:rPr>
              <a:t>-GRU Based Deep Learning Model on Chandni Chowk and R.K. Puram, Delhi </a:t>
            </a:r>
            <a:endParaRPr lang="en-US" sz="3600" b="0" strike="noStrike" spc="-1" dirty="0">
              <a:solidFill>
                <a:schemeClr val="accent2">
                  <a:lumMod val="75000"/>
                </a:schemeClr>
              </a:solidFill>
              <a:latin typeface="Arial"/>
            </a:endParaRPr>
          </a:p>
          <a:p>
            <a:pPr algn="ctr">
              <a:lnSpc>
                <a:spcPct val="90000"/>
              </a:lnSpc>
              <a:spcBef>
                <a:spcPts val="1001"/>
              </a:spcBef>
            </a:pPr>
            <a:r>
              <a:rPr lang="en-US" sz="1400" b="0" strike="noStrike" spc="-1" dirty="0">
                <a:solidFill>
                  <a:schemeClr val="accent2">
                    <a:lumMod val="75000"/>
                  </a:schemeClr>
                </a:solidFill>
                <a:latin typeface="Times New Roman"/>
              </a:rPr>
              <a:t> </a:t>
            </a:r>
            <a:endParaRPr lang="en-US" sz="1400" b="0" strike="noStrike" spc="-1" dirty="0">
              <a:solidFill>
                <a:schemeClr val="accent2">
                  <a:lumMod val="75000"/>
                </a:schemeClr>
              </a:solidFill>
              <a:latin typeface="Arial"/>
            </a:endParaRPr>
          </a:p>
          <a:p>
            <a:pPr algn="r">
              <a:lnSpc>
                <a:spcPct val="90000"/>
              </a:lnSpc>
              <a:spcBef>
                <a:spcPts val="1001"/>
              </a:spcBef>
            </a:pPr>
            <a:endParaRPr lang="en-US" sz="1400" b="0" strike="noStrike" spc="-1" dirty="0">
              <a:solidFill>
                <a:schemeClr val="accent2">
                  <a:lumMod val="75000"/>
                </a:schemeClr>
              </a:solidFill>
              <a:latin typeface="Arial"/>
            </a:endParaRPr>
          </a:p>
          <a:p>
            <a:pPr algn="r">
              <a:lnSpc>
                <a:spcPct val="90000"/>
              </a:lnSpc>
              <a:spcBef>
                <a:spcPts val="1001"/>
              </a:spcBef>
            </a:pPr>
            <a:r>
              <a:rPr lang="en-US" sz="2800" b="0" strike="noStrike" spc="-1" dirty="0">
                <a:solidFill>
                  <a:schemeClr val="accent2">
                    <a:lumMod val="75000"/>
                  </a:schemeClr>
                </a:solidFill>
                <a:latin typeface="Times New Roman"/>
              </a:rPr>
              <a:t>Presented By: Nihira Dubey</a:t>
            </a:r>
          </a:p>
          <a:p>
            <a:pPr algn="r">
              <a:lnSpc>
                <a:spcPct val="90000"/>
              </a:lnSpc>
              <a:spcBef>
                <a:spcPts val="1001"/>
              </a:spcBef>
            </a:pPr>
            <a:r>
              <a:rPr lang="en-IN" sz="2800" dirty="0">
                <a:solidFill>
                  <a:schemeClr val="accent2">
                    <a:lumMod val="75000"/>
                  </a:schemeClr>
                </a:solidFill>
              </a:rPr>
              <a:t>00927402023</a:t>
            </a:r>
          </a:p>
          <a:p>
            <a:pPr algn="r">
              <a:lnSpc>
                <a:spcPct val="90000"/>
              </a:lnSpc>
              <a:spcBef>
                <a:spcPts val="1001"/>
              </a:spcBef>
            </a:pPr>
            <a:r>
              <a:rPr lang="en-IN" sz="2800" dirty="0">
                <a:solidFill>
                  <a:schemeClr val="accent2">
                    <a:lumMod val="75000"/>
                  </a:schemeClr>
                </a:solidFill>
              </a:rPr>
              <a:t>BCA “6”sem </a:t>
            </a:r>
            <a:endParaRPr lang="en-US" sz="2800" b="0" strike="noStrike" spc="-1" dirty="0">
              <a:solidFill>
                <a:schemeClr val="accent2">
                  <a:lumMod val="75000"/>
                </a:schemeClr>
              </a:solidFill>
              <a:latin typeface="Arial"/>
            </a:endParaRPr>
          </a:p>
          <a:p>
            <a:pPr algn="ctr">
              <a:lnSpc>
                <a:spcPct val="90000"/>
              </a:lnSpc>
              <a:spcBef>
                <a:spcPts val="1001"/>
              </a:spcBef>
            </a:pPr>
            <a:endParaRPr lang="en-US" sz="2800" b="0" strike="noStrike" spc="-1" dirty="0">
              <a:solidFill>
                <a:schemeClr val="accent2">
                  <a:lumMod val="75000"/>
                </a:schemeClr>
              </a:solidFill>
              <a:latin typeface="Arial"/>
            </a:endParaRPr>
          </a:p>
        </p:txBody>
      </p:sp>
      <p:sp>
        <p:nvSpPr>
          <p:cNvPr id="84"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708B218A-3652-48D6-90BD-126324D987EC}" type="slidenum">
              <a:rPr lang="en-US" sz="1200" b="0" strike="noStrike" spc="-1">
                <a:solidFill>
                  <a:srgbClr val="8B8B8B"/>
                </a:solidFill>
                <a:latin typeface="Calibri"/>
              </a:rPr>
              <a:t>1</a:t>
            </a:fld>
            <a:endParaRPr lang="en-US" sz="1200" b="0" strike="noStrike" spc="-1">
              <a:latin typeface="Times New Roman"/>
            </a:endParaRPr>
          </a:p>
        </p:txBody>
      </p:sp>
      <p:pic>
        <p:nvPicPr>
          <p:cNvPr id="85" name="Picture 5"/>
          <p:cNvPicPr/>
          <p:nvPr/>
        </p:nvPicPr>
        <p:blipFill>
          <a:blip r:embed="rId2"/>
          <a:stretch/>
        </p:blipFill>
        <p:spPr>
          <a:xfrm>
            <a:off x="306360" y="205920"/>
            <a:ext cx="2157840" cy="71280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420120"/>
            <a:ext cx="10515240" cy="1325160"/>
          </a:xfrm>
          <a:prstGeom prst="rect">
            <a:avLst/>
          </a:prstGeom>
          <a:noFill/>
          <a:ln>
            <a:noFill/>
          </a:ln>
        </p:spPr>
        <p:txBody>
          <a:bodyPr anchor="ctr">
            <a:noAutofit/>
          </a:bodyPr>
          <a:lstStyle/>
          <a:p>
            <a:pPr algn="ctr">
              <a:lnSpc>
                <a:spcPct val="90000"/>
              </a:lnSpc>
            </a:pPr>
            <a:r>
              <a:rPr lang="en-US" sz="4400" b="1" strike="noStrike" cap="small" spc="-1">
                <a:solidFill>
                  <a:srgbClr val="000000"/>
                </a:solidFill>
                <a:latin typeface="Times New Roman"/>
              </a:rPr>
              <a:t>Introduction</a:t>
            </a:r>
            <a:endParaRPr lang="en-US" sz="4400" b="0" strike="noStrike" spc="-1">
              <a:solidFill>
                <a:srgbClr val="000000"/>
              </a:solidFill>
              <a:latin typeface="Calibri"/>
            </a:endParaRPr>
          </a:p>
        </p:txBody>
      </p:sp>
      <p:sp>
        <p:nvSpPr>
          <p:cNvPr id="87" name="TextShape 2"/>
          <p:cNvSpPr txBox="1"/>
          <p:nvPr/>
        </p:nvSpPr>
        <p:spPr>
          <a:xfrm>
            <a:off x="838080" y="1825560"/>
            <a:ext cx="10515240" cy="4350960"/>
          </a:xfrm>
          <a:prstGeom prst="rect">
            <a:avLst/>
          </a:prstGeom>
          <a:noFill/>
          <a:ln>
            <a:noFill/>
          </a:ln>
        </p:spPr>
        <p:txBody>
          <a:bodyPr>
            <a:noAutofit/>
          </a:bodyPr>
          <a:lstStyle/>
          <a:p>
            <a:pPr marL="342900" indent="-342900">
              <a:buFont typeface="Arial" panose="020B0604020202020204" pitchFamily="34" charset="0"/>
              <a:buChar char="•"/>
            </a:pPr>
            <a:r>
              <a:rPr lang="en-US" sz="2000" dirty="0"/>
              <a:t>Air pollution is a major environmental and health issue caused by urbanization, industrial growth, and vehicle emissions, affecting human health and ecosystems.. </a:t>
            </a:r>
          </a:p>
          <a:p>
            <a:pPr marL="342900" indent="-342900">
              <a:buFont typeface="Arial" panose="020B0604020202020204" pitchFamily="34" charset="0"/>
              <a:buChar char="•"/>
            </a:pPr>
            <a:r>
              <a:rPr lang="en-US" sz="2000" dirty="0"/>
              <a:t>Rapid urbanization and industrialization, especially in cities like Delhi, have worsened air pollution levels.</a:t>
            </a:r>
          </a:p>
          <a:p>
            <a:pPr marL="342900" indent="-342900">
              <a:buFont typeface="Arial" panose="020B0604020202020204" pitchFamily="34" charset="0"/>
              <a:buChar char="•"/>
            </a:pPr>
            <a:r>
              <a:rPr lang="en-US" sz="2000" dirty="0"/>
              <a:t>The project considers multiple pollutants (PM2.5, PM10, NO2, CO, O3) along with weather factors to provide a more realistic and accurate analysis. </a:t>
            </a:r>
          </a:p>
          <a:p>
            <a:pPr marL="342900" indent="-342900">
              <a:buFont typeface="Arial" panose="020B0604020202020204" pitchFamily="34" charset="0"/>
              <a:buChar char="•"/>
            </a:pPr>
            <a:r>
              <a:rPr lang="en-US" sz="2000" dirty="0"/>
              <a:t>Use of Deep Learning Models: Advanced models like </a:t>
            </a:r>
            <a:r>
              <a:rPr lang="en-US" sz="2000" dirty="0" err="1"/>
              <a:t>BiLSTM</a:t>
            </a:r>
            <a:r>
              <a:rPr lang="en-US" sz="2000" dirty="0"/>
              <a:t> and GRU are used to capture complex, non-linear relationships in time-series air quality data and improve prediction accuracy.</a:t>
            </a:r>
          </a:p>
          <a:p>
            <a:pPr marL="342900" indent="-342900">
              <a:buFont typeface="Arial" panose="020B0604020202020204" pitchFamily="34" charset="0"/>
              <a:buChar char="•"/>
            </a:pPr>
            <a:r>
              <a:rPr lang="en-US" sz="2000" dirty="0"/>
              <a:t>A multi-pollutant approach with deep learning helps improve forecasting and supports effective environmental management</a:t>
            </a:r>
          </a:p>
          <a:p>
            <a:pPr marL="342900" indent="-342900">
              <a:buFont typeface="Arial" panose="020B0604020202020204" pitchFamily="34" charset="0"/>
              <a:buChar char="•"/>
            </a:pPr>
            <a:r>
              <a:rPr lang="en-US" sz="2000" dirty="0"/>
              <a:t>The main goal is to compare different models and identify the most effective one for accurate hourly air quality forecasting in Delhi locations. </a:t>
            </a:r>
            <a:endParaRPr lang="en-US" sz="2000" b="0" strike="noStrike" spc="-1" dirty="0">
              <a:solidFill>
                <a:srgbClr val="000000"/>
              </a:solidFill>
              <a:latin typeface="Calibri"/>
            </a:endParaRPr>
          </a:p>
        </p:txBody>
      </p:sp>
      <p:sp>
        <p:nvSpPr>
          <p:cNvPr id="88"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endParaRPr lang="en-US" sz="1400" b="0" strike="noStrike" spc="-1">
              <a:latin typeface="Times New Roman"/>
            </a:endParaRPr>
          </a:p>
          <a:p>
            <a:pPr algn="r">
              <a:lnSpc>
                <a:spcPct val="100000"/>
              </a:lnSpc>
            </a:pPr>
            <a:fld id="{CCE1EEAD-E36A-4723-A6BE-0B7B81271EBD}" type="slidenum">
              <a:rPr lang="en-US" sz="1200" b="0" strike="noStrike" spc="-1">
                <a:solidFill>
                  <a:srgbClr val="8B8B8B"/>
                </a:solidFill>
                <a:latin typeface="Calibri"/>
              </a:rPr>
              <a:t>2</a:t>
            </a:fld>
            <a:endParaRPr lang="en-US" sz="1200" b="0" strike="noStrike" spc="-1">
              <a:latin typeface="Times New Roman"/>
            </a:endParaRPr>
          </a:p>
        </p:txBody>
      </p:sp>
      <p:sp>
        <p:nvSpPr>
          <p:cNvPr id="89"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0" i="1" strike="noStrike" spc="-1" dirty="0">
                <a:solidFill>
                  <a:srgbClr val="000000"/>
                </a:solidFill>
                <a:latin typeface="Times New Roman"/>
              </a:rPr>
              <a:t>Research Gaps &amp; Research Aim</a:t>
            </a:r>
            <a:endParaRPr lang="en-US" sz="4400" b="0" strike="noStrike" spc="-1" dirty="0">
              <a:solidFill>
                <a:srgbClr val="000000"/>
              </a:solidFill>
              <a:latin typeface="Calibri"/>
            </a:endParaRPr>
          </a:p>
        </p:txBody>
      </p:sp>
      <p:sp>
        <p:nvSpPr>
          <p:cNvPr id="91" name="TextShape 2"/>
          <p:cNvSpPr txBox="1"/>
          <p:nvPr/>
        </p:nvSpPr>
        <p:spPr>
          <a:xfrm>
            <a:off x="838080" y="1825560"/>
            <a:ext cx="10515240" cy="4350960"/>
          </a:xfrm>
          <a:prstGeom prst="rect">
            <a:avLst/>
          </a:prstGeom>
          <a:noFill/>
          <a:ln>
            <a:noFill/>
          </a:ln>
        </p:spPr>
        <p:txBody>
          <a:bodyPr>
            <a:noAutofit/>
          </a:bodyPr>
          <a:lstStyle/>
          <a:p>
            <a:pPr marL="342900" indent="-342900">
              <a:buFont typeface="Arial" panose="020B0604020202020204" pitchFamily="34" charset="0"/>
              <a:buChar char="•"/>
            </a:pPr>
            <a:r>
              <a:rPr lang="en-US" sz="2000" dirty="0"/>
              <a:t>The existing studies on air quality prediction mainly focus on single pollutants and often fail to capture the complex interactions among multiple pollutants and meteorological factors.</a:t>
            </a:r>
          </a:p>
          <a:p>
            <a:pPr marL="342900" indent="-342900">
              <a:buFont typeface="Arial" panose="020B0604020202020204" pitchFamily="34" charset="0"/>
              <a:buChar char="•"/>
            </a:pPr>
            <a:r>
              <a:rPr lang="en-US" sz="2000" dirty="0"/>
              <a:t>Traditional statistical models are limited in handling nonlinear and dynamic relationships present in air pollution data.</a:t>
            </a:r>
          </a:p>
          <a:p>
            <a:pPr marL="342900" indent="-342900">
              <a:buFont typeface="Arial" panose="020B0604020202020204" pitchFamily="34" charset="0"/>
              <a:buChar char="•"/>
            </a:pPr>
            <a:r>
              <a:rPr lang="en-US" sz="2000" dirty="0"/>
              <a:t>Although deep learning models improve prediction accuracy, many studies do not effectively integrate spatial and temporal dependencies together .</a:t>
            </a:r>
          </a:p>
          <a:p>
            <a:pPr marL="342900" indent="-342900">
              <a:buFont typeface="Arial" panose="020B0604020202020204" pitchFamily="34" charset="0"/>
              <a:buChar char="•"/>
            </a:pPr>
            <a:r>
              <a:rPr lang="en-US" sz="2000" dirty="0"/>
              <a:t>There is limited research on hybrid models that combine multiple deep learning architectures for better performance. </a:t>
            </a:r>
          </a:p>
          <a:p>
            <a:pPr marL="342900" indent="-342900">
              <a:buFont typeface="Arial" panose="020B0604020202020204" pitchFamily="34" charset="0"/>
              <a:buChar char="•"/>
            </a:pPr>
            <a:r>
              <a:rPr lang="en-US" sz="2000" dirty="0"/>
              <a:t>Additionally, issues like model interpretability and handling of real-time multi-pollutant data are still not fully addressed. </a:t>
            </a:r>
            <a:endParaRPr lang="en-US" sz="2000" b="0" strike="noStrike" spc="-1" dirty="0">
              <a:solidFill>
                <a:srgbClr val="000000"/>
              </a:solidFill>
              <a:latin typeface="Calibri"/>
            </a:endParaRPr>
          </a:p>
        </p:txBody>
      </p:sp>
      <p:sp>
        <p:nvSpPr>
          <p:cNvPr id="92"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36A3A19B-A7E0-4C41-A316-6F39DB144A09}" type="slidenum">
              <a:rPr lang="en-US" sz="1200" b="0" strike="noStrike" spc="-1">
                <a:solidFill>
                  <a:srgbClr val="8B8B8B"/>
                </a:solidFill>
                <a:latin typeface="Calibri"/>
              </a:rPr>
              <a:t>3</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1" strike="noStrike" cap="small" spc="-1" dirty="0">
                <a:solidFill>
                  <a:srgbClr val="000000"/>
                </a:solidFill>
                <a:latin typeface="Times New Roman"/>
              </a:rPr>
              <a:t>Literature review</a:t>
            </a:r>
            <a:br>
              <a:rPr dirty="0"/>
            </a:br>
            <a:endParaRPr lang="en-US" sz="4400" b="0" strike="noStrike" spc="-1" dirty="0">
              <a:solidFill>
                <a:srgbClr val="000000"/>
              </a:solidFill>
              <a:latin typeface="Calibri"/>
            </a:endParaRPr>
          </a:p>
        </p:txBody>
      </p:sp>
      <p:sp>
        <p:nvSpPr>
          <p:cNvPr id="95" name="TextShape 2"/>
          <p:cNvSpPr txBox="1"/>
          <p:nvPr/>
        </p:nvSpPr>
        <p:spPr>
          <a:xfrm>
            <a:off x="838080" y="1825560"/>
            <a:ext cx="10515240" cy="4350960"/>
          </a:xfrm>
          <a:prstGeom prst="rect">
            <a:avLst/>
          </a:prstGeom>
          <a:noFill/>
          <a:ln>
            <a:noFill/>
          </a:ln>
        </p:spPr>
        <p:txBody>
          <a:bodyPr>
            <a:noAutofit/>
          </a:bodyPr>
          <a:lstStyle/>
          <a:p>
            <a:r>
              <a:rPr lang="en-US" sz="2000" dirty="0"/>
              <a:t>Air pollution is a major environmental and public health concern caused by rapid urbanization, industrialization, and vehicular emissions, with pollutants like PM2.5, PM10, NO₂, CO, and O₃ severely impacting human health. Traditional air quality monitoring systems and statistical models are limited in coverage and fail to capture complex, non-linear relationships, often focusing on single-pollutant analysis. Recent research emphasizes multi-pollutant analysis along with meteorological factors for more realistic predictions. Advanced deep learning models such as CNN, LSTM, GRU, and Bi-LSTM have shown better performance in handling time-series data, while hybrid models like </a:t>
            </a:r>
            <a:r>
              <a:rPr lang="en-US" sz="2000" dirty="0" err="1"/>
              <a:t>BiLSTM</a:t>
            </a:r>
            <a:r>
              <a:rPr lang="en-US" sz="2000" dirty="0"/>
              <a:t>-GRU further enhance prediction accuracy. However, challenges such as high computational cost, need for large datasets, and lack of interpretability still remain. </a:t>
            </a:r>
          </a:p>
        </p:txBody>
      </p:sp>
      <p:sp>
        <p:nvSpPr>
          <p:cNvPr id="96"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AC675500-1707-4516-A331-3E2DFC3D9CE6}" type="slidenum">
              <a:rPr lang="en-US" sz="1200" b="0" strike="noStrike" spc="-1">
                <a:solidFill>
                  <a:srgbClr val="8B8B8B"/>
                </a:solidFill>
                <a:latin typeface="Calibri"/>
              </a:rPr>
              <a:t>4</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1" strike="noStrike" cap="small" spc="-1" dirty="0">
                <a:solidFill>
                  <a:srgbClr val="000000"/>
                </a:solidFill>
                <a:latin typeface="Times New Roman"/>
              </a:rPr>
              <a:t>Research Methodology</a:t>
            </a:r>
            <a:endParaRPr lang="en-US" sz="4400" b="0" strike="noStrike" spc="-1" dirty="0">
              <a:solidFill>
                <a:srgbClr val="000000"/>
              </a:solidFill>
              <a:latin typeface="Calibri"/>
            </a:endParaRPr>
          </a:p>
        </p:txBody>
      </p:sp>
      <p:sp>
        <p:nvSpPr>
          <p:cNvPr id="99" name="TextShape 2"/>
          <p:cNvSpPr txBox="1"/>
          <p:nvPr/>
        </p:nvSpPr>
        <p:spPr>
          <a:xfrm>
            <a:off x="838080" y="1825560"/>
            <a:ext cx="6993956" cy="4350960"/>
          </a:xfrm>
          <a:prstGeom prst="rect">
            <a:avLst/>
          </a:prstGeom>
          <a:noFill/>
          <a:ln>
            <a:noFill/>
          </a:ln>
        </p:spPr>
        <p:txBody>
          <a:bodyPr>
            <a:noAutofit/>
          </a:bodyPr>
          <a:lstStyle/>
          <a:p>
            <a:r>
              <a:rPr lang="en-US" sz="2000" dirty="0"/>
              <a:t>The research methodology is based on collecting multi-pollutant air quality data, including PM2.5, PM10, NO₂, CO, and O₃ along with meteorological parameters. The collected data is preprocessed through cleaning, handling missing values, and normalization to improve data quality. The dataset is then divided into training, validation, and testing sets. A hybrid deep learning model combining </a:t>
            </a:r>
            <a:r>
              <a:rPr lang="en-US" sz="2000" dirty="0" err="1"/>
              <a:t>BiLSTM</a:t>
            </a:r>
            <a:r>
              <a:rPr lang="en-US" sz="2000" dirty="0"/>
              <a:t> and GRU is developed to capture temporal dependencies and complex patterns in the data. The model is trained and optimized using iterative learning and evaluated using performance metrics such as MAE, RMSE, and R² to ensure accurate air quality prediction. </a:t>
            </a:r>
            <a:endParaRPr lang="en-US" sz="2000" b="0" strike="noStrike" spc="-1" dirty="0">
              <a:solidFill>
                <a:srgbClr val="000000"/>
              </a:solidFill>
              <a:latin typeface="Calibri"/>
            </a:endParaRPr>
          </a:p>
        </p:txBody>
      </p:sp>
      <p:sp>
        <p:nvSpPr>
          <p:cNvPr id="100"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3BF0F9EB-D2EA-491D-A9D8-6216324696D0}" type="slidenum">
              <a:rPr lang="en-US" sz="1200" b="0" strike="noStrike" spc="-1">
                <a:solidFill>
                  <a:srgbClr val="8B8B8B"/>
                </a:solidFill>
                <a:latin typeface="Calibri"/>
              </a:rPr>
              <a:t>5</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pic>
        <p:nvPicPr>
          <p:cNvPr id="4" name="Picture 3">
            <a:extLst>
              <a:ext uri="{FF2B5EF4-FFF2-40B4-BE49-F238E27FC236}">
                <a16:creationId xmlns:a16="http://schemas.microsoft.com/office/drawing/2014/main" id="{A2807106-3D7B-03DC-227D-85433021BB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8796" y="1483061"/>
            <a:ext cx="3590778" cy="45554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1" strike="noStrike" cap="small" spc="-1" dirty="0">
                <a:solidFill>
                  <a:srgbClr val="000000"/>
                </a:solidFill>
                <a:latin typeface="Times New Roman"/>
              </a:rPr>
              <a:t>Research Finding</a:t>
            </a:r>
            <a:endParaRPr lang="en-US" sz="4400" b="0" strike="noStrike" spc="-1" dirty="0">
              <a:solidFill>
                <a:srgbClr val="000000"/>
              </a:solidFill>
              <a:latin typeface="Calibri"/>
            </a:endParaRPr>
          </a:p>
        </p:txBody>
      </p:sp>
      <p:sp>
        <p:nvSpPr>
          <p:cNvPr id="103" name="TextShape 2"/>
          <p:cNvSpPr txBox="1"/>
          <p:nvPr/>
        </p:nvSpPr>
        <p:spPr>
          <a:xfrm>
            <a:off x="838080" y="1825560"/>
            <a:ext cx="10515240" cy="4350960"/>
          </a:xfrm>
          <a:prstGeom prst="rect">
            <a:avLst/>
          </a:prstGeom>
          <a:noFill/>
          <a:ln>
            <a:noFill/>
          </a:ln>
        </p:spPr>
        <p:txBody>
          <a:bodyPr>
            <a:noAutofit/>
          </a:bodyPr>
          <a:lstStyle/>
          <a:p>
            <a:pPr marL="342900" indent="-342900">
              <a:buFont typeface="Arial" panose="020B0604020202020204" pitchFamily="34" charset="0"/>
              <a:buChar char="•"/>
            </a:pPr>
            <a:r>
              <a:rPr lang="en-US" sz="2000" dirty="0"/>
              <a:t>Hybrid </a:t>
            </a:r>
            <a:r>
              <a:rPr lang="en-US" sz="2000" b="1" dirty="0" err="1"/>
              <a:t>BiLSTM</a:t>
            </a:r>
            <a:r>
              <a:rPr lang="en-US" sz="2000" b="1" dirty="0"/>
              <a:t>-GRU model</a:t>
            </a:r>
            <a:r>
              <a:rPr lang="en-US" sz="2000" dirty="0"/>
              <a:t> achieved higher accuracy compared to traditional and single deep learning models..</a:t>
            </a:r>
          </a:p>
          <a:p>
            <a:pPr marL="342900" indent="-342900">
              <a:buFont typeface="Arial" panose="020B0604020202020204" pitchFamily="34" charset="0"/>
              <a:buChar char="•"/>
            </a:pPr>
            <a:r>
              <a:rPr lang="en-US" sz="2000" b="1" dirty="0"/>
              <a:t>Multi-pollutant approach</a:t>
            </a:r>
            <a:r>
              <a:rPr lang="en-US" sz="2000" dirty="0"/>
              <a:t> provided more realistic and reliable predictions than single pollutant models. </a:t>
            </a:r>
          </a:p>
          <a:p>
            <a:pPr marL="342900" indent="-342900">
              <a:buFont typeface="Arial" panose="020B0604020202020204" pitchFamily="34" charset="0"/>
              <a:buChar char="•"/>
            </a:pPr>
            <a:r>
              <a:rPr lang="en-US" sz="2000" dirty="0"/>
              <a:t>Strong correlation was observed between </a:t>
            </a:r>
            <a:r>
              <a:rPr lang="en-US" sz="2000" b="1" dirty="0"/>
              <a:t>PM2.5 and PM10</a:t>
            </a:r>
            <a:r>
              <a:rPr lang="en-US" sz="2000" dirty="0"/>
              <a:t>, indicating common pollution sources. </a:t>
            </a:r>
          </a:p>
          <a:p>
            <a:pPr marL="342900" indent="-342900">
              <a:buFont typeface="Arial" panose="020B0604020202020204" pitchFamily="34" charset="0"/>
              <a:buChar char="•"/>
            </a:pPr>
            <a:r>
              <a:rPr lang="en-US" sz="2000" dirty="0"/>
              <a:t>Inclusion of </a:t>
            </a:r>
            <a:r>
              <a:rPr lang="en-US" sz="2000" b="1" dirty="0"/>
              <a:t>meteorological factors</a:t>
            </a:r>
            <a:r>
              <a:rPr lang="en-US" sz="2000" dirty="0"/>
              <a:t> (temperature, humidity, wind) improved prediction performance.</a:t>
            </a:r>
          </a:p>
          <a:p>
            <a:pPr marL="342900" indent="-342900">
              <a:buFont typeface="Arial" panose="020B0604020202020204" pitchFamily="34" charset="0"/>
              <a:buChar char="•"/>
            </a:pPr>
            <a:r>
              <a:rPr lang="en-US" sz="2000" b="1" dirty="0"/>
              <a:t>Chandni Chowk</a:t>
            </a:r>
            <a:r>
              <a:rPr lang="en-US" sz="2000" dirty="0"/>
              <a:t> showed higher pollution levels compared to </a:t>
            </a:r>
            <a:r>
              <a:rPr lang="en-US" sz="2000" b="1" dirty="0"/>
              <a:t>R.K. Puram</a:t>
            </a:r>
            <a:r>
              <a:rPr lang="en-US" sz="2000" dirty="0"/>
              <a:t> due to traffic and congestion.</a:t>
            </a:r>
          </a:p>
          <a:p>
            <a:pPr marL="342900" indent="-342900">
              <a:buFont typeface="Arial" panose="020B0604020202020204" pitchFamily="34" charset="0"/>
              <a:buChar char="•"/>
            </a:pPr>
            <a:r>
              <a:rPr lang="en-US" sz="2000" b="1" dirty="0"/>
              <a:t>GRU shows strong performance</a:t>
            </a:r>
            <a:r>
              <a:rPr lang="en-US" sz="2000" dirty="0"/>
              <a:t>, particularly for PM10 prediction. </a:t>
            </a:r>
          </a:p>
          <a:p>
            <a:pPr marL="342900" indent="-342900">
              <a:buFont typeface="Arial" panose="020B0604020202020204" pitchFamily="34" charset="0"/>
              <a:buChar char="•"/>
            </a:pPr>
            <a:r>
              <a:rPr lang="en-US" sz="2000" dirty="0"/>
              <a:t>Evaluation metrics like </a:t>
            </a:r>
            <a:r>
              <a:rPr lang="en-US" sz="2000" b="1" dirty="0"/>
              <a:t>MAE, RMSE, and R²</a:t>
            </a:r>
            <a:r>
              <a:rPr lang="en-US" sz="2000" dirty="0"/>
              <a:t> confirmed the robustness and efficiency of the proposed model.</a:t>
            </a:r>
          </a:p>
          <a:p>
            <a:endParaRPr lang="en-US" sz="2000" dirty="0"/>
          </a:p>
          <a:p>
            <a:endParaRPr lang="en-US" sz="2000" b="0" strike="noStrike" spc="-1" dirty="0">
              <a:solidFill>
                <a:srgbClr val="000000"/>
              </a:solidFill>
              <a:latin typeface="Calibri"/>
            </a:endParaRPr>
          </a:p>
        </p:txBody>
      </p:sp>
      <p:sp>
        <p:nvSpPr>
          <p:cNvPr id="104"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4DAC66B3-2CDA-40F2-865F-6469B1F550E1}" type="slidenum">
              <a:rPr lang="en-US" sz="1200" b="0" strike="noStrike" spc="-1">
                <a:solidFill>
                  <a:srgbClr val="8B8B8B"/>
                </a:solidFill>
                <a:latin typeface="Calibri"/>
              </a:rPr>
              <a:t>6</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1" strike="noStrike" cap="small" spc="-1" dirty="0">
                <a:solidFill>
                  <a:srgbClr val="000000"/>
                </a:solidFill>
                <a:latin typeface="Times New Roman"/>
              </a:rPr>
              <a:t>Conclusion</a:t>
            </a:r>
            <a:endParaRPr lang="en-US" sz="4400" b="0" strike="noStrike" spc="-1" dirty="0">
              <a:solidFill>
                <a:srgbClr val="000000"/>
              </a:solidFill>
              <a:latin typeface="Calibri"/>
            </a:endParaRPr>
          </a:p>
        </p:txBody>
      </p:sp>
      <p:sp>
        <p:nvSpPr>
          <p:cNvPr id="107" name="TextShape 2"/>
          <p:cNvSpPr txBox="1"/>
          <p:nvPr/>
        </p:nvSpPr>
        <p:spPr>
          <a:xfrm>
            <a:off x="838080" y="1825560"/>
            <a:ext cx="10515240" cy="4350960"/>
          </a:xfrm>
          <a:prstGeom prst="rect">
            <a:avLst/>
          </a:prstGeom>
          <a:noFill/>
          <a:ln>
            <a:noFill/>
          </a:ln>
        </p:spPr>
        <p:txBody>
          <a:bodyPr>
            <a:noAutofit/>
          </a:bodyPr>
          <a:lstStyle/>
          <a:p>
            <a:r>
              <a:rPr lang="en-US" sz="2000" dirty="0"/>
              <a:t>The study concludes that air pollution prediction can be significantly improved using advanced deep learning techniques. The proposed hybrid </a:t>
            </a:r>
            <a:r>
              <a:rPr lang="en-US" sz="2000" dirty="0" err="1"/>
              <a:t>BiLSTM</a:t>
            </a:r>
            <a:r>
              <a:rPr lang="en-US" sz="2000" dirty="0"/>
              <a:t>-GRU model effectively captures complex, non-linear, and temporal patterns in multi-pollutant air quality data, resulting in higher accuracy compared to traditional models. The integration of multiple pollutants along with meteorological factors provides a more realistic understanding of air quality variations. The results also highlight that highly congested areas like Chandni Chowk experience more severe pollution than residential areas like R.K. Puram. Overall, the proposed approach proves to be reliable for accurate air quality forecasting and can support better environmental management and decision-making.</a:t>
            </a:r>
          </a:p>
        </p:txBody>
      </p:sp>
      <p:sp>
        <p:nvSpPr>
          <p:cNvPr id="108"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F94931A8-D40C-4BF1-B4DC-715FB018CF67}" type="slidenum">
              <a:rPr lang="en-US" sz="1200" b="0" strike="noStrike" spc="-1">
                <a:solidFill>
                  <a:srgbClr val="8B8B8B"/>
                </a:solidFill>
                <a:latin typeface="Calibri"/>
              </a:rPr>
              <a:t>7</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4400" b="1" strike="noStrike" spc="-1" dirty="0">
                <a:solidFill>
                  <a:srgbClr val="000000"/>
                </a:solidFill>
                <a:latin typeface="Times New Roman"/>
              </a:rPr>
              <a:t>References</a:t>
            </a:r>
            <a:endParaRPr lang="en-US" sz="4400" b="1" strike="noStrike" spc="-1" dirty="0">
              <a:solidFill>
                <a:srgbClr val="000000"/>
              </a:solidFill>
              <a:latin typeface="Calibri"/>
            </a:endParaRPr>
          </a:p>
        </p:txBody>
      </p:sp>
      <p:sp>
        <p:nvSpPr>
          <p:cNvPr id="111" name="TextShape 2"/>
          <p:cNvSpPr txBox="1"/>
          <p:nvPr/>
        </p:nvSpPr>
        <p:spPr>
          <a:xfrm>
            <a:off x="838080" y="1825560"/>
            <a:ext cx="10515240" cy="4350960"/>
          </a:xfrm>
          <a:prstGeom prst="rect">
            <a:avLst/>
          </a:prstGeom>
          <a:noFill/>
          <a:ln>
            <a:noFill/>
          </a:ln>
        </p:spPr>
        <p:txBody>
          <a:bodyPr>
            <a:noAutofit/>
          </a:bodyPr>
          <a:lstStyle/>
          <a:p>
            <a:pPr marL="342900" indent="-342900">
              <a:buFont typeface="Arial" panose="020B0604020202020204" pitchFamily="34" charset="0"/>
              <a:buChar char="•"/>
            </a:pPr>
            <a:r>
              <a:rPr lang="en-US" sz="2000" dirty="0"/>
              <a:t>Central Pollution Control Board (CPCB), </a:t>
            </a:r>
            <a:r>
              <a:rPr lang="en-US" sz="2000" i="1" dirty="0"/>
              <a:t>National Air Quality Monitoring </a:t>
            </a:r>
            <a:r>
              <a:rPr lang="en-US" sz="2000" i="1" dirty="0" err="1"/>
              <a:t>Programme</a:t>
            </a:r>
            <a:r>
              <a:rPr lang="en-US" sz="2000" i="1" dirty="0"/>
              <a:t> (NAMP) Report</a:t>
            </a:r>
            <a:r>
              <a:rPr lang="en-US" sz="2000" dirty="0"/>
              <a:t>, India.</a:t>
            </a:r>
          </a:p>
          <a:p>
            <a:pPr marL="342900" indent="-342900">
              <a:buFont typeface="Arial" panose="020B0604020202020204" pitchFamily="34" charset="0"/>
              <a:buChar char="•"/>
            </a:pPr>
            <a:r>
              <a:rPr lang="en-US" sz="2000" dirty="0"/>
              <a:t>Hochreiter, S., &amp; </a:t>
            </a:r>
            <a:r>
              <a:rPr lang="en-US" sz="2000" dirty="0" err="1"/>
              <a:t>Schmidhuber</a:t>
            </a:r>
            <a:r>
              <a:rPr lang="en-US" sz="2000" dirty="0"/>
              <a:t>, J., </a:t>
            </a:r>
            <a:r>
              <a:rPr lang="en-US" sz="2000" i="1" dirty="0"/>
              <a:t>Long Short-Term Memory</a:t>
            </a:r>
            <a:r>
              <a:rPr lang="en-US" sz="2000" dirty="0"/>
              <a:t>, Neural Computation, 1997.</a:t>
            </a:r>
          </a:p>
          <a:p>
            <a:pPr marL="342900" indent="-342900">
              <a:buFont typeface="Arial" panose="020B0604020202020204" pitchFamily="34" charset="0"/>
              <a:buChar char="•"/>
            </a:pPr>
            <a:r>
              <a:rPr lang="en-IN" sz="2000" dirty="0"/>
              <a:t>Cho, K. et al., </a:t>
            </a:r>
            <a:r>
              <a:rPr lang="en-IN" sz="2000" i="1" dirty="0"/>
              <a:t>Learning Phrase Representations using RNN Encoder–Decoder for Statistical Machine Translation</a:t>
            </a:r>
            <a:r>
              <a:rPr lang="en-IN" sz="2000" dirty="0"/>
              <a:t>, 2014.</a:t>
            </a:r>
          </a:p>
          <a:p>
            <a:pPr marL="342900" indent="-342900">
              <a:buFont typeface="Arial" panose="020B0604020202020204" pitchFamily="34" charset="0"/>
              <a:buChar char="•"/>
            </a:pPr>
            <a:r>
              <a:rPr lang="en-IN" sz="2000" dirty="0"/>
              <a:t>S. Son and J. Seok, “Optimal activation function selection for enhanced model </a:t>
            </a:r>
            <a:r>
              <a:rPr lang="en-IN" sz="2000" dirty="0" err="1"/>
              <a:t>perfor</a:t>
            </a:r>
            <a:r>
              <a:rPr lang="en-IN" sz="2000" dirty="0"/>
              <a:t> </a:t>
            </a:r>
            <a:r>
              <a:rPr lang="en-IN" sz="2000" dirty="0" err="1"/>
              <a:t>mance</a:t>
            </a:r>
            <a:r>
              <a:rPr lang="en-IN" sz="2000" dirty="0"/>
              <a:t>,” Information Sciences, p. 123300, 2026.</a:t>
            </a:r>
          </a:p>
          <a:p>
            <a:pPr marL="342900" indent="-342900">
              <a:buFont typeface="Arial" panose="020B0604020202020204" pitchFamily="34" charset="0"/>
              <a:buChar char="•"/>
            </a:pPr>
            <a:r>
              <a:rPr lang="en-US" sz="2000" dirty="0"/>
              <a:t>T. Talaei </a:t>
            </a:r>
            <a:r>
              <a:rPr lang="en-US" sz="2000" dirty="0" err="1"/>
              <a:t>Khoei</a:t>
            </a:r>
            <a:r>
              <a:rPr lang="en-US" sz="2000" dirty="0"/>
              <a:t> and H. Slimane, “Deep learning: systematic review, models, challenges,” Neural Computing and Applications, vol. 35, no. 31, pp. 23103–23124, 2023.</a:t>
            </a:r>
          </a:p>
          <a:p>
            <a:pPr marL="342900" indent="-342900">
              <a:buFont typeface="Arial" panose="020B0604020202020204" pitchFamily="34" charset="0"/>
              <a:buChar char="•"/>
            </a:pPr>
            <a:r>
              <a:rPr lang="en-US" sz="2000" dirty="0"/>
              <a:t>Zhang, Y., et al., </a:t>
            </a:r>
            <a:r>
              <a:rPr lang="en-US" sz="2000" i="1" dirty="0"/>
              <a:t>Air Quality Prediction using Deep Learning: A Review</a:t>
            </a:r>
            <a:r>
              <a:rPr lang="en-US" sz="2000" dirty="0"/>
              <a:t>, IEEE Access, 2018.</a:t>
            </a:r>
          </a:p>
        </p:txBody>
      </p:sp>
      <p:sp>
        <p:nvSpPr>
          <p:cNvPr id="112"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AA8821D2-766E-4993-9631-BCF2D9A01DDA}" type="slidenum">
              <a:rPr lang="en-US" sz="1200" b="0" strike="noStrike" spc="-1">
                <a:solidFill>
                  <a:srgbClr val="8B8B8B"/>
                </a:solidFill>
                <a:latin typeface="Calibri"/>
              </a:rPr>
              <a:t>8</a:t>
            </a:fld>
            <a:endParaRPr lang="en-US" sz="1200" b="0" strike="noStrike" spc="-1">
              <a:latin typeface="Times New Roman"/>
            </a:endParaRPr>
          </a:p>
        </p:txBody>
      </p:sp>
      <p:sp>
        <p:nvSpPr>
          <p:cNvPr id="6" name="TextShape 4"/>
          <p:cNvSpPr txBox="1"/>
          <p:nvPr/>
        </p:nvSpPr>
        <p:spPr>
          <a:xfrm>
            <a:off x="757380" y="6256800"/>
            <a:ext cx="9869980" cy="498683"/>
          </a:xfrm>
          <a:prstGeom prst="rect">
            <a:avLst/>
          </a:prstGeom>
          <a:noFill/>
          <a:ln>
            <a:noFill/>
          </a:ln>
        </p:spPr>
        <p:txBody>
          <a:bodyPr wrap="square" lIns="90000" tIns="45000" rIns="90000" bIns="45000">
            <a:spAutoFit/>
          </a:bodyPr>
          <a:lstStyle/>
          <a:p>
            <a:pPr algn="ctr"/>
            <a:r>
              <a:rPr lang="en-US" sz="1250" spc="-1" dirty="0">
                <a:solidFill>
                  <a:srgbClr val="000000"/>
                </a:solidFill>
                <a:latin typeface="Calibri"/>
              </a:rPr>
              <a:t>NATIONAL CONFERENCE ON MACHINE LEARNING, ARTIFICIAL INTELLIGENCE, RECENT ADVANCEMENT &amp; SECURITY: OPPORTUNITIES &amp; CHALLENGES</a:t>
            </a:r>
          </a:p>
          <a:p>
            <a:pPr algn="ctr"/>
            <a:r>
              <a:rPr lang="en-US" sz="1400" b="0" strike="noStrike" spc="-1" dirty="0">
                <a:solidFill>
                  <a:srgbClr val="000000"/>
                </a:solidFill>
                <a:latin typeface="Calibri"/>
              </a:rPr>
              <a:t>(</a:t>
            </a:r>
            <a:r>
              <a:rPr lang="en-US" sz="1400" spc="-1" dirty="0">
                <a:solidFill>
                  <a:srgbClr val="000000"/>
                </a:solidFill>
                <a:latin typeface="Calibri"/>
              </a:rPr>
              <a:t>17</a:t>
            </a:r>
            <a:r>
              <a:rPr lang="en-US" sz="1400" b="0" strike="noStrike" spc="-1" dirty="0">
                <a:solidFill>
                  <a:srgbClr val="000000"/>
                </a:solidFill>
                <a:latin typeface="Calibri"/>
              </a:rPr>
              <a:t> – 18 April, 2026)</a:t>
            </a:r>
            <a:endParaRPr lang="en-US" sz="14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329</TotalTime>
  <Words>1143</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Calibri</vt:lpstr>
      <vt:lpstr>Calibri Light</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Conference on Emerging Market Dynamics and Global Trade: Unlocking Opportunities in a Changing World (8th - 9th December, 2023)</dc:title>
  <dc:subject/>
  <dc:creator>nitu maurya</dc:creator>
  <dc:description/>
  <cp:lastModifiedBy>abhishek kushwaha</cp:lastModifiedBy>
  <cp:revision>14</cp:revision>
  <dcterms:created xsi:type="dcterms:W3CDTF">2023-12-04T17:59:01Z</dcterms:created>
  <dcterms:modified xsi:type="dcterms:W3CDTF">2026-04-15T08:42:24Z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